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120640"/>
            <a:ext cx="2194560" cy="2194560"/>
          </a:xfrm>
          <a:prstGeom prst="ellipse">
            <a:avLst/>
          </a:prstGeom>
          <a:solidFill>
            <a:srgbClr val="3C467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Autonomous, Responsible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Collections Strategy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delinquency risk insights into fair, scalable, at-scale action for Geldium's collections team.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526280"/>
            <a:ext cx="2011680" cy="0"/>
          </a:xfrm>
          <a:prstGeom prst="line">
            <a:avLst/>
          </a:prstGeom>
          <a:noFill/>
          <a:ln w="3175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Geldium Executive Leadership   |   From: Tata iQ Analytics Team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loop from customer data to action — and back again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85900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4859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3017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Data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history, credit utilization, DTI, income, employment status, account tenure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081528" y="315468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83280" y="196596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20540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32054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20440" y="3017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Logic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6160" y="3566160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Risk-scoring model ranks each customer; flags high-risk profiles (e.g., high DTI × utilization)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16168" y="315468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17920" y="196596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55180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715518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355080" y="3017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3566160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response — automated reminders, counseling offers, or human-led outreach by risk level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750808" y="315468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052560" y="196596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989820" y="2240280"/>
            <a:ext cx="640080" cy="6400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5" name="Text 23"/>
          <p:cNvSpPr/>
          <p:nvPr/>
        </p:nvSpPr>
        <p:spPr>
          <a:xfrm>
            <a:off x="998982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189720" y="3017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Loop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35440" y="3566160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(paid, missed, enrolled) feed back to retrain and recalibrate the model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 flipV="1">
            <a:off x="1805940" y="5349240"/>
            <a:ext cx="8503920" cy="502920"/>
          </a:xfrm>
          <a:prstGeom prst="bentConnector3">
            <a:avLst/>
          </a:prstGeom>
          <a:noFill/>
          <a:ln w="22225">
            <a:solidFill>
              <a:srgbClr val="3C4670"/>
            </a:solidFill>
            <a:prstDash val="dash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548640" y="55321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outcomes continuously retrain the decision logic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Geldium · AI-Powered Collections Strategy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+ MACHINE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of Agentic 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acts independently on routine, low-risk decisions — and defers to people when judgment, fairness, or high stakes are involved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594360"/>
          </a:xfrm>
          <a:prstGeom prst="roundRect">
            <a:avLst>
              <a:gd name="adj" fmla="val 9231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AUTONOMOUS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5349240" cy="4023360"/>
          </a:xfrm>
          <a:prstGeom prst="roundRect">
            <a:avLst>
              <a:gd name="adj" fmla="val 1364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51760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every customer's delinquency risk daily from updated account data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low-risk, routine payment reminders (email/SMS) on a fixed schedule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Adjusting risk tiers automatically as new payment data arrives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high-risk or ambiguous cases into a human review queue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349240" cy="594360"/>
          </a:xfrm>
          <a:prstGeom prst="roundRect">
            <a:avLst>
              <a:gd name="adj" fmla="val 9231"/>
            </a:avLst>
          </a:prstGeom>
          <a:solidFill>
            <a:srgbClr val="D4A017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182880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HUMAN OVERSIGHT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63640" y="2423160"/>
            <a:ext cx="5349240" cy="4023360"/>
          </a:xfrm>
          <a:prstGeom prst="roundRect">
            <a:avLst>
              <a:gd name="adj" fmla="val 1364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651760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Approving hardship plans, settlements, or credit line adjustments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any case flagged for potential bias or fairness concern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decision on escalations, legal action, or account closures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audits of model accuracy and subgroup fairness metrics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Geldium · AI-Powered Collections Strategy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Guardrails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safeguards so scale never comes at the cost of fairness or transparency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63500" dist="25400" dir="5400000">
              <a:srgbClr val="9AA5C4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031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00200" y="208483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&amp; Fairness Monitoring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subgroup checks (Employment_Status, Location, Age) and a disparate-impact review (80% rule) before any threshold change goes live.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63500" dist="25400" dir="5400000">
              <a:srgbClr val="9AA5C4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1031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ℹ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0" y="208483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by Default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274320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automated action ships with a plain-language reason code (e.g., “flagged for high debt-to-income and credit usage”), never a bare score.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63500" dist="25400" dir="5400000">
              <a:srgbClr val="9AA5C4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3434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00200" y="432511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Compliance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9834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to fair lending and adverse-action notice requirements; full audit trail of every model-driven decision.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40690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63500" dist="25400" dir="5400000">
              <a:srgbClr val="9AA5C4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43434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315200" y="432511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 Escalation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37960" y="49834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high-stakes, ambiguous, or contested case routes to a human reviewer before final action is taken.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Geldium · AI-Powered Collections Strategy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Business Impact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gains for the business, paired with a better experience for customers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594360"/>
          </a:xfrm>
          <a:prstGeom prst="roundRect">
            <a:avLst>
              <a:gd name="adj" fmla="val 9231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BUSINESS KPIs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5349240" cy="4023360"/>
          </a:xfrm>
          <a:prstGeom prst="roundRect">
            <a:avLst>
              <a:gd name="adj" fmla="val 1364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51760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reduction in delinquency within the high-DTI × high-utilization priority segment within 6 months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cost-to-collect via earlier, automated low-risk outreach vs. late-stage manual recovery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time-to-action — daily re-scoring vs. periodic manual review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coverage of the full customer base without proportional headcount growth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349240" cy="594360"/>
          </a:xfrm>
          <a:prstGeom prst="roundRect">
            <a:avLst>
              <a:gd name="adj" fmla="val 9231"/>
            </a:avLst>
          </a:prstGeom>
          <a:solidFill>
            <a:srgbClr val="D4A017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182880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  CUSTOMER OUTCOMES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63640" y="2423160"/>
            <a:ext cx="5349240" cy="4023360"/>
          </a:xfrm>
          <a:prstGeom prst="roundRect">
            <a:avLst>
              <a:gd name="adj" fmla="val 1364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651760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Earlier, supportive contact (payment counseling) instead of after-the-fact collections pressure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explainable treatment across customers reduces perceived unfairness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customers reach serious delinquency or default status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reason codes give customers a clear understanding of — and path out of — their risk flag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Geldium · AI-Powered Collections Strategy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Insight to Sustainable Action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fair, explainable, and scalable collections system — built on the risk factors and recommendations already validated in Geldium's EDA and modeling work.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4251960"/>
            <a:ext cx="2011680" cy="0"/>
          </a:xfrm>
          <a:prstGeom prst="line">
            <a:avLst/>
          </a:prstGeom>
          <a:noFill/>
          <a:ln w="3175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Tata iQ Analytics Team for Geldium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2026-08-01T10:32:16Z</dcterms:created>
  <dcterms:modified xsi:type="dcterms:W3CDTF">2026-08-01T10:32:16Z</dcterms:modified>
</cp:coreProperties>
</file>